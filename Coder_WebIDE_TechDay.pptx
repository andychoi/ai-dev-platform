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  <a:latin typeface="Arial"/>
              </a:defRPr>
            </a:pPr>
            <a:r>
              <a:t>Coder WebIDE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0">
                <a:solidFill>
                  <a:srgbClr val="3A86FF"/>
                </a:solidFill>
                <a:latin typeface="Arial"/>
              </a:defRPr>
            </a:pPr>
            <a:r>
              <a:t>Secure, Cost-Effective, AI-Ready Development Environments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0E0E0"/>
                </a:solidFill>
                <a:latin typeface="Arial"/>
              </a:defRPr>
            </a:pPr>
            <a:r>
              <a:t>Developer Tech Day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66666"/>
                </a:solidFill>
                <a:latin typeface="Arial"/>
              </a:defRPr>
            </a:pPr>
            <a:r>
              <a:t>15-Minute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6B6B"/>
                </a:solidFill>
                <a:latin typeface="Arial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Traditional VDI Pain Points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64592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81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Challenge</a:t>
                      </a:r>
                    </a:p>
                  </a:txBody>
                  <a:tcPr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Impact</a:t>
                      </a:r>
                    </a:p>
                  </a:txBody>
                  <a:tcPr>
                    <a:solidFill>
                      <a:srgbClr val="0F4C7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Slow startup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5-15 min to get working environment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High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Windows licenses + VDI infrastructure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Resource waste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Full VM per developer, always running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Security gaps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Data on local devices, inconsistent policies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Onboarding delay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Days to weeks for new hire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097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A86FF"/>
                </a:solidFill>
                <a:latin typeface="Arial"/>
              </a:defRPr>
            </a:pPr>
            <a:r>
              <a:t>The AI Challenge: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  <a:latin typeface="Arial"/>
              </a:defRPr>
            </a:pPr>
            <a:r>
              <a:t>• How do we give developers AI assistants?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  <a:latin typeface="Arial"/>
              </a:defRPr>
            </a:pPr>
            <a:r>
              <a:t>• Without exposing API keys to local machines?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  <a:latin typeface="Arial"/>
              </a:defRPr>
            </a:pPr>
            <a:r>
              <a:t>• Without code leaking to untrusted devices?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0D9A5"/>
                </a:solidFill>
                <a:latin typeface="Arial"/>
              </a:defRPr>
            </a:pPr>
            <a:r>
              <a:t>The Solution: Coder WebIDE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Browser-Based Development Environments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6400800" cy="36576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defRPr sz="1100">
                <a:solidFill>
                  <a:srgbClr val="00D9A5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┌──────────────────────────────────────────┐</a:t>
            </a:r>
            <a:br/>
            <a:r>
              <a:t>│      Developer's Browser                 │</a:t>
            </a:r>
            <a:br/>
            <a:r>
              <a:t>│      Any device, any location            │</a:t>
            </a:r>
            <a:br/>
            <a:r>
              <a:t>│      No local code, no secrets           │</a:t>
            </a:r>
            <a:br/>
            <a:r>
              <a:t>└────────────────┬─────────────────────────┘</a:t>
            </a:r>
            <a:br/>
            <a:r>
              <a:t>                 │ HTTPS only</a:t>
            </a:r>
            <a:br/>
            <a:r>
              <a:t>                 ▼</a:t>
            </a:r>
            <a:br/>
            <a:r>
              <a:t>┌──────────────────────────────────────────┐</a:t>
            </a:r>
            <a:br/>
            <a:r>
              <a:t>│           Coder Platform                 │</a:t>
            </a:r>
            <a:br/>
            <a:r>
              <a:t>│  ┌──────────┐ ┌──────────┐ ┌──────────┐ │</a:t>
            </a:r>
            <a:br/>
            <a:r>
              <a:t>│  │Workspace │ │Workspace │ │Workspace │ │</a:t>
            </a:r>
            <a:br/>
            <a:r>
              <a:t>│  │ VS Code  │ │ VS Code  │ │ VS Code  │ │</a:t>
            </a:r>
            <a:br/>
            <a:r>
              <a:t>│  └──────────┘ └──────────┘ └──────────┘ │</a:t>
            </a:r>
            <a:br/>
            <a:r>
              <a:t>│         All code stays here              │</a:t>
            </a:r>
            <a:br/>
            <a:r>
              <a:t>└──────────────────────────────────────────┘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A86FF"/>
                </a:solidFill>
                <a:latin typeface="Arial"/>
              </a:defRPr>
            </a:pPr>
            <a:r>
              <a:t>Key Insight: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37744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• Full VS Code in browser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• Code never leaves infrastructure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• Works from any device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• No local setup required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Four Key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A86FF"/>
                </a:solidFill>
                <a:latin typeface="Arial"/>
              </a:defRPr>
            </a:pPr>
            <a:r>
              <a:t>1. Security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Arial"/>
              </a:defRPr>
            </a:pPr>
            <a:r>
              <a:t>• Zero-trust: No shell/RDP from untrusted devices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Arial"/>
              </a:defRPr>
            </a:pPr>
            <a:r>
              <a:t>• SSO via OIDC (Azure AD ready)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Arial"/>
              </a:defRPr>
            </a:pPr>
            <a:r>
              <a:t>• Complete audit trail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9A5"/>
                </a:solidFill>
                <a:latin typeface="Arial"/>
              </a:defRPr>
            </a:pPr>
            <a:r>
              <a:t>2. Cost Reduction (40-60% vs VDI)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Arial"/>
              </a:defRPr>
            </a:pPr>
            <a:r>
              <a:t>• Containers vs VMs: 10x density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Arial"/>
              </a:defRPr>
            </a:pPr>
            <a:r>
              <a:t>• 30-60 sec startup vs 5-15 min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Arial"/>
              </a:defRPr>
            </a:pPr>
            <a:r>
              <a:t>• No Windows/VDI licenses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Arial"/>
              </a:defRPr>
            </a:pPr>
            <a:r>
              <a:t>3. Fast Onboarding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Arial"/>
              </a:defRPr>
            </a:pPr>
            <a:r>
              <a:t>• New hire → productive in minutes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Arial"/>
              </a:defRPr>
            </a:pPr>
            <a:r>
              <a:t>• Standardized templates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Arial"/>
              </a:defRPr>
            </a:pPr>
            <a:r>
              <a:t>• No 'works on my machine' issues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9260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BB86FC"/>
                </a:solidFill>
                <a:latin typeface="Arial"/>
              </a:defRPr>
            </a:pPr>
            <a:r>
              <a:t>4. AI-Ready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29184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Arial"/>
              </a:defRPr>
            </a:pPr>
            <a:r>
              <a:t>• Secure AI Gateway (Claude, Bedrock)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Arial"/>
              </a:defRPr>
            </a:pPr>
            <a:r>
              <a:t>• Built for AI coding agents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Arial"/>
              </a:defRPr>
            </a:pPr>
            <a:r>
              <a:t>• Rate limiting &amp; audit logging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666666"/>
                </a:solidFill>
                <a:latin typeface="Arial"/>
              </a:defRPr>
            </a:pPr>
            <a:r>
              <a:t>Aligned with Coder's Enterprise AI Development vision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F4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Architecture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8229600" cy="365760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defRPr sz="1100">
                <a:solidFill>
                  <a:srgbClr val="00D9A5"/>
                </a:solidFill>
                <a:latin typeface="Courier New"/>
              </a:defRPr>
            </a:pPr>
            <a:r>
              <a:t>┌─────────────────────────────────────────────────────────────┐</a:t>
            </a:r>
            <a:br/>
            <a:r>
              <a:t>│                    Platform Services                         │</a:t>
            </a:r>
            <a:br/>
            <a:r>
              <a:t>├──────────────┬──────────────┬──────────────┬────────────────┤</a:t>
            </a:r>
            <a:br/>
            <a:r>
              <a:t>│    Coder     │  Authentik   │    Gitea     │  AI Gateway    │</a:t>
            </a:r>
            <a:br/>
            <a:r>
              <a:t>│    :7080     │    (SSO)     │    (Git)     │    :8090       │</a:t>
            </a:r>
            <a:br/>
            <a:r>
              <a:t>│              │    :9000     │    :3000     │                │</a:t>
            </a:r>
            <a:br/>
            <a:r>
              <a:t>└──────────────┴──────────────┴──────────────┴────────────────┘</a:t>
            </a:r>
            <a:br/>
            <a:r>
              <a:t>        │                            │               │</a:t>
            </a:r>
            <a:br/>
            <a:r>
              <a:t>        ▼                            ▼               ▼</a:t>
            </a:r>
            <a:br/>
            <a:r>
              <a:t>┌──────────────┐              ┌────────────┐  ┌─────────────┐</a:t>
            </a:r>
            <a:br/>
            <a:r>
              <a:t>│  Workspaces  │              │   Repos    │  │   Claude    │</a:t>
            </a:r>
            <a:br/>
            <a:r>
              <a:t>│ (Containers) │◄────────────►│            │  │   Bedrock   │</a:t>
            </a:r>
            <a:br/>
            <a:r>
              <a:t>└──────────────┘              └────────────┘  │   Gemini    │</a:t>
            </a:r>
            <a:br/>
            <a:r>
              <a:t>                                              └─────────────┘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A86FF"/>
                </a:solidFill>
                <a:latin typeface="Arial"/>
              </a:defRPr>
            </a:pPr>
            <a:r>
              <a:t>Key Points: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18288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Arial"/>
              </a:defRPr>
            </a:pPr>
            <a:r>
              <a:t>• All containerized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Arial"/>
              </a:defRPr>
            </a:pPr>
            <a:r>
              <a:t>• Self-hosted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Arial"/>
              </a:defRPr>
            </a:pPr>
            <a:r>
              <a:t>• Enterprise-controlled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Arial"/>
              </a:defRPr>
            </a:pPr>
            <a:r>
              <a:t>• 14 services total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Arial"/>
              </a:defRPr>
            </a:pPr>
            <a:r>
              <a:t>• Single docker-compose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AI Gateway: Secure AI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B6B"/>
                </a:solidFill>
                <a:latin typeface="Arial"/>
              </a:defRPr>
            </a:pPr>
            <a:r>
              <a:t>The Problem: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Arial"/>
              </a:defRPr>
            </a:pPr>
            <a:r>
              <a:t>• Developers need AI assistants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Arial"/>
              </a:defRPr>
            </a:pPr>
            <a:r>
              <a:t>• Can't expose API keys to local machines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Arial"/>
              </a:defRPr>
            </a:pPr>
            <a:r>
              <a:t>• Need audit trail &amp; cost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D9A5"/>
                </a:solidFill>
                <a:latin typeface="Arial"/>
              </a:defRPr>
            </a:pPr>
            <a:r>
              <a:t>The Solution: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20040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3810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Benefit</a:t>
                      </a:r>
                    </a:p>
                  </a:txBody>
                  <a:tcPr>
                    <a:solidFill>
                      <a:srgbClr val="0F4C75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No credential exposure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API keys in gateway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Multi-provider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Claude, Bedrock, Gemini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Rate limiting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Per-user request controls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Audit logging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Full request/response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Future-ready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Supports AI agents (Claude Code)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A86FF"/>
                </a:solidFill>
                <a:latin typeface="Arial"/>
              </a:defRPr>
            </a:pPr>
            <a:r>
              <a:t>Usage (no API key needed):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554480"/>
            <a:ext cx="5760720" cy="2560320"/>
          </a:xfrm>
          <a:prstGeom prst="round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27000"/>
          <a:lstStyle/>
          <a:p>
            <a:pPr algn="ctr">
              <a:defRPr sz="1100">
                <a:solidFill>
                  <a:srgbClr val="00D9A5"/>
                </a:solidFill>
                <a:latin typeface="Courier New"/>
              </a:defRPr>
            </a:pPr>
            <a:r>
              <a:t># From any workspace</a:t>
            </a:r>
            <a:br/>
            <a:r>
              <a:t>curl http://ai-gateway:8090/v1/claude/messages \</a:t>
            </a:r>
            <a:br/>
            <a:r>
              <a:t>  -H "Content-Type: application/json" \</a:t>
            </a:r>
            <a:br/>
            <a:r>
              <a:t>  -d '{</a:t>
            </a:r>
            <a:br/>
            <a:r>
              <a:t>    "model": "claude-sonnet-4",</a:t>
            </a:r>
            <a:br/>
            <a:r>
              <a:t>    "messages": [</a:t>
            </a:r>
            <a:br/>
            <a:r>
              <a:t>      {"role": "user", "content": "Hello"}</a:t>
            </a:r>
            <a:br/>
            <a:r>
              <a:t>    ]</a:t>
            </a:r>
            <a:br/>
            <a:r>
              <a:t>  }'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3A86FF"/>
                </a:solidFill>
                <a:latin typeface="Arial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4-Minute 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00D9A5"/>
                </a:solidFill>
                <a:latin typeface="Arial"/>
              </a:defRPr>
            </a:pPr>
            <a:r>
              <a:t>1. Login via SSO (Authentik → Azure AD ready)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00D9A5"/>
                </a:solidFill>
                <a:latin typeface="Arial"/>
              </a:defRPr>
            </a:pPr>
            <a:r>
              <a:t>2. Create Workspace (30-60 seconds spin-up)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00D9A5"/>
                </a:solidFill>
                <a:latin typeface="Arial"/>
              </a:defRPr>
            </a:pPr>
            <a:r>
              <a:t>3. VS Code in Browser (full IDE experience)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3A86FF"/>
                </a:solidFill>
                <a:latin typeface="Arial"/>
              </a:defRPr>
            </a:pPr>
            <a:r>
              <a:t>4. AI Assistant via Gateway (Claude integration)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3A86FF"/>
                </a:solidFill>
                <a:latin typeface="Arial"/>
              </a:defRPr>
            </a:pPr>
            <a:r>
              <a:t>5. Git Workflow (clone, commit, push to Gitea)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666666"/>
                </a:solidFill>
                <a:latin typeface="Arial"/>
              </a:defRPr>
            </a:pPr>
            <a:r>
              <a:t>http://host.docker.internal:7080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D9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Results &amp;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0972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40233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Before (VDI)</a:t>
                      </a:r>
                    </a:p>
                  </a:txBody>
                  <a:tcPr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After (Coder)</a:t>
                      </a:r>
                    </a:p>
                  </a:txBody>
                  <a:tcPr>
                    <a:solidFill>
                      <a:srgbClr val="0F4C7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Improvement</a:t>
                      </a:r>
                    </a:p>
                  </a:txBody>
                  <a:tcPr>
                    <a:solidFill>
                      <a:srgbClr val="0F4C7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Environment startup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5-15 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30-60 sec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90%+ faster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New hire onboarding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2-5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&lt; 1 hour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95%+ faster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Infrastructure cost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$X/user/mo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~0.5X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40-60% savings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Security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Full auto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666666"/>
                          </a:solidFill>
                          <a:latin typeface="Arial"/>
                        </a:defRPr>
                      </a:pPr>
                      <a:r>
                        <a:t>100% visibility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A86FF"/>
                </a:solidFill>
                <a:latin typeface="Arial"/>
              </a:defRPr>
            </a:pPr>
            <a:r>
              <a:t>Developer Feedback: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0E0E0"/>
                </a:solidFill>
                <a:latin typeface="Arial"/>
              </a:defRPr>
            </a:pPr>
            <a:r>
              <a:t>"Finally, I can code from my iPad on the train"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80559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0E0E0"/>
                </a:solidFill>
                <a:latin typeface="Arial"/>
              </a:defRPr>
            </a:pPr>
            <a:r>
              <a:t>"AI assistant without fighting IT for API keys"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E0E0E0"/>
                </a:solidFill>
                <a:latin typeface="Arial"/>
              </a:defRPr>
            </a:pPr>
            <a:r>
              <a:t>"New contractor was coding within 30 minutes of signing NDA"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Roadmap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D9A5"/>
                </a:solidFill>
                <a:latin typeface="Arial"/>
              </a:defRPr>
            </a:pPr>
            <a:r>
              <a:t>Current State: PoC Complete 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Arial"/>
              </a:defRPr>
            </a:pPr>
            <a:r>
              <a:t>• 14 services running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Arial"/>
              </a:defRPr>
            </a:pPr>
            <a:r>
              <a:t>• SSO integrated</a:t>
            </a:r>
          </a:p>
          <a:p>
            <a:pPr>
              <a:spcAft>
                <a:spcPts val="800"/>
              </a:spcAft>
              <a:defRPr sz="1600">
                <a:solidFill>
                  <a:srgbClr val="E0E0E0"/>
                </a:solidFill>
                <a:latin typeface="Arial"/>
              </a:defRPr>
            </a:pPr>
            <a:r>
              <a:t>• AI Gateway operational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A86FF"/>
                </a:solidFill>
                <a:latin typeface="Arial"/>
              </a:defRPr>
            </a:pPr>
            <a:r>
              <a:t>Pilot Program - Q1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0E0E0"/>
                </a:solidFill>
                <a:latin typeface="Arial"/>
              </a:defRPr>
            </a:pPr>
            <a:r>
              <a:t>10-20 developers, gather feedback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A86FF"/>
                </a:solidFill>
                <a:latin typeface="Arial"/>
              </a:defRPr>
            </a:pPr>
            <a:r>
              <a:t>Production Deploy - Q2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0E0E0"/>
                </a:solidFill>
                <a:latin typeface="Arial"/>
              </a:defRPr>
            </a:pPr>
            <a:r>
              <a:t>Kubernetes migration, HA/DR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3A86FF"/>
                </a:solidFill>
                <a:latin typeface="Arial"/>
              </a:defRPr>
            </a:pPr>
            <a:r>
              <a:t>Enterprise Features - Q3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E0E0E0"/>
                </a:solidFill>
                <a:latin typeface="Arial"/>
              </a:defRPr>
            </a:pPr>
            <a:r>
              <a:t>Azure AD, advanced RBAC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Get Involved: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  <a:latin typeface="Arial"/>
              </a:defRPr>
            </a:pPr>
            <a:r>
              <a:t>• GitHub: github.com/andychoi/dev-platform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  <a:latin typeface="Arial"/>
              </a:defRPr>
            </a:pPr>
            <a:r>
              <a:t>• Slack: #coder-webide-pilot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  <a:latin typeface="Arial"/>
              </a:defRPr>
            </a:pPr>
            <a:r>
              <a:t>• Sign up for pilot program!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  <a:latin typeface="Arial"/>
              </a:defRPr>
            </a:pPr>
            <a: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A86FF"/>
                </a:solidFill>
                <a:latin typeface="Arial"/>
              </a:defRPr>
            </a:pPr>
            <a:r>
              <a:t>Key Takeaways: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• Browser-based IDE = security + flexibility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• 40-60% cost savings vs traditional VDI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• AI-ready infrastructure for the future</a:t>
            </a:r>
          </a:p>
          <a:p>
            <a:pPr>
              <a:spcAft>
                <a:spcPts val="800"/>
              </a:spcAft>
              <a:defRPr sz="2000">
                <a:solidFill>
                  <a:srgbClr val="E0E0E0"/>
                </a:solidFill>
                <a:latin typeface="Arial"/>
              </a:defRPr>
            </a:pPr>
            <a:r>
              <a:t>• Minutes to productivity, not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A86FF"/>
                </a:solidFill>
                <a:latin typeface="Arial"/>
              </a:defRPr>
            </a:pPr>
            <a:r>
              <a:t>Resources: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320040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  <a:latin typeface="Arial"/>
              </a:defRPr>
            </a:pPr>
            <a:r>
              <a:t>• coder.com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  <a:latin typeface="Arial"/>
              </a:defRPr>
            </a:pPr>
            <a:r>
              <a:t>• github.com/andychoi/dev-platform</a:t>
            </a:r>
          </a:p>
          <a:p>
            <a:pPr>
              <a:spcAft>
                <a:spcPts val="800"/>
              </a:spcAft>
              <a:defRPr sz="1800">
                <a:solidFill>
                  <a:srgbClr val="E0E0E0"/>
                </a:solidFill>
                <a:latin typeface="Arial"/>
              </a:defRPr>
            </a:pPr>
            <a:r>
              <a:t>• coder.com/blog (AI Development)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D9A5"/>
                </a:solidFill>
                <a:latin typeface="Arial"/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